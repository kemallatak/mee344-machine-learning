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 rot="10800000">
            <a:off x="7619695" y="0"/>
            <a:ext cx="4572000" cy="6858000"/>
          </a:xfrm>
          <a:prstGeom prst="rt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Hourly Electricity Load Forecasting</a:t>
            </a:r>
          </a:p>
          <a:p>
            <a:pPr>
              <a:spcBef>
                <a:spcPts val="1200"/>
              </a:spcBef>
              <a:defRPr sz="1800">
                <a:solidFill>
                  <a:srgbClr val="0D9488"/>
                </a:solidFill>
                <a:latin typeface="Arial"/>
              </a:defRPr>
            </a:pPr>
            <a:r>
              <a:t>Predictive Modeling on the Turkish Power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Course: MEE344 Machine Learning Group Project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Presenter: Kemal Atak (Dept. of Engineering)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Date: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Problem Definition &amp;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1. Predicting Grid Load (Continuous Variable)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Prediction Task: Continuous hourly regression to model electrical power load in MWh.</a:t>
            </a:r>
            <a:br/>
            <a:r>
              <a:t>• Target Variable (y): 'Toplam' (Total hourly grid demand/generation).</a:t>
            </a:r>
            <a:br/>
            <a:r>
              <a:t>• Primary Inputs (X): Chronological datetime parameters, engineered time features, auto-regressive lags, and moving rolling statistics.</a:t>
            </a:r>
          </a:p>
          <a:p>
            <a:pPr>
              <a:spcBef>
                <a:spcPts val="2000"/>
              </a:spcBef>
              <a:defRPr sz="1600" b="1">
                <a:solidFill>
                  <a:srgbClr val="0D9488"/>
                </a:solidFill>
                <a:latin typeface="Arial"/>
              </a:defRPr>
            </a:pPr>
            <a:r>
              <a:t>2. Practical Aim &amp; Engineering Goal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Develop an optimized, machine learning model with complete reproducibility.</a:t>
            </a:r>
            <a:br/>
            <a:r>
              <a:t>• Train high-generalization models: Linear Regression (Interpretability baseline) vs. XGBoost Regressor (Advanced gradient boosting).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  <a:latin typeface="Arial"/>
              </a:defRPr>
            </a:pPr>
            <a:r>
              <a:t>CRITICAL METRIC LEAKAGE PREVENTION</a:t>
            </a:r>
          </a:p>
          <a:p>
            <a:pPr>
              <a:spcBef>
                <a:spcPts val="12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The dataset contains individual generation source metrics (Natural Gas, Dammed Hydro, Coal, Wind, Solar, etc.).</a:t>
            </a:r>
            <a:br/>
            <a:br/>
            <a:r>
              <a:t>• Mathematical Reality: The sum of these individual sources is EXACTLY equal to the 'Toplam' (Total Load) target variable.</a:t>
            </a:r>
            <a:br/>
            <a:br/>
            <a:r>
              <a:t>• Modeling Constraint: Using individual source columns as features would create a trivial linear equation where R² = 1.0 (perfect fit with zero learning value).</a:t>
            </a:r>
            <a:br/>
            <a:br/>
            <a:r>
              <a:t>• Engineering Solution: These columns were STRICTLY excluded. The models must predict load strictly based on datetime context and historical lags, reflecting real-world conditions.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Motivations &amp; Sectoral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383280" cy="4206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9488"/>
                </a:solidFill>
                <a:latin typeface="Arial"/>
              </a:defRPr>
            </a:pPr>
            <a:r>
              <a:t>Grid Stability</a:t>
            </a:r>
          </a:p>
          <a:p>
            <a:br/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• Electrical energy must be consumed the instant it is generated.</a:t>
            </a:r>
            <a:br/>
            <a:br/>
            <a:r>
              <a:t>• Accurate forecasting is vital to prevent grid frequency fluctuations, avoiding potential equipment damage and blackouts.</a:t>
            </a:r>
            <a:br/>
            <a:br/>
            <a:r>
              <a:t>• Helps grid operators balance system load dynamically in real-time.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206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Arial"/>
              </a:defRPr>
            </a:pPr>
            <a:r>
              <a:t>Economic Efficiency</a:t>
            </a:r>
          </a:p>
          <a:p>
            <a:br/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• Active participation in the Day-Ahead Market (GÖP) and Balancing Power Market (DGP).</a:t>
            </a:r>
            <a:br/>
            <a:br/>
            <a:r>
              <a:t>• High-accuracy load predictions reduce costly grid 'imbalance penalties' for energy suppliers.</a:t>
            </a:r>
            <a:br/>
            <a:br/>
            <a:r>
              <a:t>• Allows energy providers to optimize their generation schedules cost-effectively.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645920"/>
            <a:ext cx="3383280" cy="4206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8288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D9488"/>
                </a:solidFill>
                <a:latin typeface="Arial"/>
              </a:defRPr>
            </a:pPr>
            <a:r>
              <a:t>Green Transition</a:t>
            </a:r>
          </a:p>
          <a:p>
            <a:br/>
            <a:pPr>
              <a:defRPr sz="1300">
                <a:solidFill>
                  <a:srgbClr val="0F172A"/>
                </a:solidFill>
                <a:latin typeface="Calibri"/>
              </a:defRPr>
            </a:pPr>
            <a:r>
              <a:t>• With high penetration of intermittent sources (Solar &amp; Wind), forecasting load is essential.</a:t>
            </a:r>
            <a:br/>
            <a:br/>
            <a:r>
              <a:t>• Enables the system to schedule reliable baseline generation (thermal, reservoir hydro) to buffer renewable volatility.</a:t>
            </a:r>
            <a:br/>
            <a:br/>
            <a:r>
              <a:t>• Minimizes environmental waste by reducing fuel burning.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Dataset Overview &amp; Energy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Grid Composition &amp; Overview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**Temporal Coverage**: March 1st, 2025 to June 1st, 2025 (2,232 continuous hours).</a:t>
            </a:r>
            <a:br/>
            <a:r>
              <a:t>• **Hourly Grid Load Statistics**:</a:t>
            </a:r>
            <a:br/>
            <a:r>
              <a:t>  - *Average Hourly Load*: 33,634 MWh</a:t>
            </a:r>
            <a:br/>
            <a:r>
              <a:t>  - *Standard Deviation*: 5,643 MWh</a:t>
            </a:r>
            <a:br/>
            <a:r>
              <a:t>  - *Minimum demand hour*: 15,890 MWh</a:t>
            </a:r>
            <a:br/>
            <a:r>
              <a:t>  - *Maximum demand hour*: 46,784 MWh</a:t>
            </a:r>
            <a:br/>
            <a:r>
              <a:t>• **Dominant Production Sources in Turkey**:</a:t>
            </a:r>
            <a:br/>
            <a:r>
              <a:t>  - **Imported Coal**: 18.85% (Baseline Generation)</a:t>
            </a:r>
            <a:br/>
            <a:r>
              <a:t>  - **Natural Gas**: 18.31% (Fast-ramping Generation)</a:t>
            </a:r>
            <a:br/>
            <a:r>
              <a:t>  - **Dammed Hydro**: 16.46% (Peak Load Cushioning)</a:t>
            </a:r>
            <a:br/>
            <a:r>
              <a:t>  - **Lignite Coal**: 12.25%</a:t>
            </a:r>
            <a:br/>
            <a:r>
              <a:t>  - **Wind Power**: 12.20% (Highly Intermittent)</a:t>
            </a:r>
            <a:br/>
            <a:r>
              <a:t>  - **Run-of-River Hydro**: 10.48%</a:t>
            </a:r>
          </a:p>
        </p:txBody>
      </p:sp>
      <p:pic>
        <p:nvPicPr>
          <p:cNvPr id="6" name="Picture 5" descr="01_generation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EDA - Target Load Trend &amp; Distribution</a:t>
            </a:r>
          </a:p>
        </p:txBody>
      </p:sp>
      <p:pic>
        <p:nvPicPr>
          <p:cNvPr id="5" name="Picture 4" descr="02_total_load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858000" cy="2926080"/>
          </a:xfrm>
          <a:prstGeom prst="rect">
            <a:avLst/>
          </a:prstGeom>
        </p:spPr>
      </p:pic>
      <p:pic>
        <p:nvPicPr>
          <p:cNvPr id="6" name="Picture 5" descr="03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0"/>
            <a:ext cx="457200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463040"/>
            <a:ext cx="411480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Key EDA Insights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**Temporal Stationary Trend**:</a:t>
            </a:r>
            <a:br/>
            <a:r>
              <a:t>  - The grid load displays a highly stationary mean behavior around 33.6 GW with consistent daily oscillations.</a:t>
            </a:r>
            <a:br/>
            <a:r>
              <a:t>  - A slight shifts in average base demand is observed as season moves from early Spring (March) towards Summer (June).</a:t>
            </a:r>
            <a:br/>
            <a:br/>
            <a:r>
              <a:t>• **Distribution Properties**:</a:t>
            </a:r>
            <a:br/>
            <a:r>
              <a:t>  - The load histogram is roughly normal and slightly right-skewed.</a:t>
            </a:r>
            <a:br/>
            <a:r>
              <a:t>  - The median load (33,390 MWh) is very close to the mean (33,634 MWh).</a:t>
            </a:r>
            <a:br/>
            <a:r>
              <a:t>  - The peak concentration lies between 30,000 and 38,000 MWh, representing standard grid activity hours.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EDA - Hourly &amp; Weekly Demand Profile</a:t>
            </a:r>
          </a:p>
        </p:txBody>
      </p:sp>
      <p:pic>
        <p:nvPicPr>
          <p:cNvPr id="5" name="Picture 4" descr="04_hourly_weekl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4864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463040"/>
            <a:ext cx="512064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Deep Temporal Dynamics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1. Diurnal (Daily) Consumption Cycle:</a:t>
            </a:r>
            <a:br/>
            <a:r>
              <a:t>• Demand drops to its absolute nadir at 03:00 - 04:00 AM (sleep hours).</a:t>
            </a:r>
            <a:br/>
            <a:r>
              <a:t>• Sharp ramp-up occurs starting from 07:00 AM as commercial activities open.</a:t>
            </a:r>
            <a:br/>
            <a:r>
              <a:t>• Twin-peak shape: Midday peak (11:00 AM - 12:00 PM) for industrial power, and a second evening peak (19:00 - 21:00 PM) driven by residential illumination and appliances.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2. Weekly Calendar Profile:</a:t>
            </a:r>
            <a:br/>
            <a:r>
              <a:t>• Monday through Friday present a stable, highly-correlated pattern of intense industrial demand (high heat zones on heatmap).</a:t>
            </a:r>
            <a:br/>
            <a:r>
              <a:t>• Saturday demand experiences a noticeable dip (reduced commercial output).</a:t>
            </a:r>
            <a:br/>
            <a:r>
              <a:t>• Sunday load represents the absolute minimum weekly activity (coolest colors on heatmap).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Data Preprocessing &amp; Cleaning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Data Ingestion &amp; Encoding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**Encoding Resolution**: The source file was encoded using Turkish character formatting (`cp1254`) and comma-based decimal notation.</a:t>
            </a:r>
            <a:br/>
            <a:br/>
            <a:r>
              <a:t>• **Robust Header Cleansing**: Column strings were standardized using substring extraction to remove encoding corruptions automatically, translating to clean ASCII identifiers (e.g. `Dogal_Gaz`, `Ithal_Komur`).</a:t>
            </a:r>
            <a:br/>
            <a:br/>
            <a:r>
              <a:t>• **Datetime Alignment**: Extracted textual Date and Time columns and unified them into a pandas `datetime64[ns]` index, validating the sorted chronological hourly timeline.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Anomalies, Imputation &amp; Scaling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</a:t>
            </a:r>
            <a:r>
              <a:rPr b="1"/>
              <a:t>Zero Missing Values Verified</a:t>
            </a:r>
            <a:r>
              <a:t>: The dataset has 100% complete records. To ensure future robustness against grid reporting losses, a forward-fill (ffill) followed by backward-fill (bfill) fallback block was engineered.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</a:t>
            </a:r>
            <a:r>
              <a:rPr b="1"/>
              <a:t>Scaling for Linear Models</a:t>
            </a:r>
            <a:r>
              <a:t>: The inputs are scaled using StandardScaler to have zero mean (μ = 0) and unit variance (σ = 1) using the formula:</a:t>
            </a:r>
          </a:p>
          <a:p>
            <a:pPr algn="ctr">
              <a:spcBef>
                <a:spcPts val="800"/>
              </a:spcBef>
              <a:spcAft>
                <a:spcPts val="800"/>
              </a:spcAft>
            </a:pPr>
            <a:r>
              <a:rPr sz="1600" b="1">
                <a:solidFill>
                  <a:srgbClr val="2563EB"/>
                </a:solidFill>
                <a:latin typeface="Courier New"/>
              </a:rPr>
              <a:t>   z = (x - μ) / σ   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rPr i="1"/>
              <a:t>  *Necessary to ensure the regularized Linear Regression coefficients can be compared directly for feature importance.*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</a:t>
            </a:r>
            <a:r>
              <a:rPr b="1"/>
              <a:t>Tree-based Robustness</a:t>
            </a:r>
            <a:r>
              <a:t>: XGBoost is scale-invariant, hence it trains directly on raw, unscaled features, preserving raw value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Feature Engineering - Cyclical Time Encoding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The Challenge of Ordinal Time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In traditional time feature extraction, hour is represented as an integer from 0 to 23.</a:t>
            </a:r>
            <a:br/>
            <a:r>
              <a:t>• **The Bug**: The distance between hour 23 and hour 00 is calculated as 23 units, whereas in physical time they are only 1 hour apart.</a:t>
            </a:r>
            <a:br/>
            <a:r>
              <a:t>• Giving numerical ordinal weights forces the models (especially Linear Regression) to assume a strong non-cyclical slope.</a:t>
            </a:r>
          </a:p>
          <a:p>
            <a:pPr>
              <a:spcBef>
                <a:spcPts val="16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Trigonometric Cyclical Solution</a:t>
            </a:r>
          </a:p>
          <a:p>
            <a:pPr>
              <a:spcBef>
                <a:spcPts val="8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We transform periodic time coordinates onto a 2D unit circle using trigonometric Sine and Cosine transformations.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</a:t>
            </a:r>
            <a:r>
              <a:rPr b="1"/>
              <a:t>Hour Cyclical Transformations</a:t>
            </a:r>
            <a:r>
              <a:t>: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400" b="1">
                <a:solidFill>
                  <a:srgbClr val="2563EB"/>
                </a:solidFill>
                <a:latin typeface="Courier New"/>
              </a:rPr>
              <a:t>   Hour</a:t>
            </a:r>
            <a:r>
              <a:rPr sz="1400" b="1">
                <a:solidFill>
                  <a:srgbClr val="2563EB"/>
                </a:solidFill>
                <a:latin typeface="Courier New"/>
              </a:rPr>
              <a:t>sin</a:t>
            </a:r>
            <a:r>
              <a:rPr sz="1400" b="1">
                <a:solidFill>
                  <a:srgbClr val="2563EB"/>
                </a:solidFill>
                <a:latin typeface="Courier New"/>
              </a:rPr>
              <a:t> = sin( 2 · π · Hour / 24 )</a:t>
            </a:r>
          </a:p>
          <a:p>
            <a:pPr algn="l"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2563EB"/>
                </a:solidFill>
                <a:latin typeface="Courier New"/>
              </a:rPr>
              <a:t>   Hour</a:t>
            </a:r>
            <a:r>
              <a:rPr sz="1400" b="1">
                <a:solidFill>
                  <a:srgbClr val="2563EB"/>
                </a:solidFill>
                <a:latin typeface="Courier New"/>
              </a:rPr>
              <a:t>cos</a:t>
            </a:r>
            <a:r>
              <a:rPr sz="1400" b="1">
                <a:solidFill>
                  <a:srgbClr val="2563EB"/>
                </a:solidFill>
                <a:latin typeface="Courier New"/>
              </a:rPr>
              <a:t> = cos( 2 · π · Hour / 24 )</a:t>
            </a:r>
          </a:p>
          <a:p>
            <a:pPr>
              <a:spcBef>
                <a:spcPts val="1000"/>
              </a:spcBef>
              <a:defRPr sz="1400">
                <a:solidFill>
                  <a:srgbClr val="0F172A"/>
                </a:solidFill>
                <a:latin typeface="Calibri"/>
              </a:defRPr>
            </a:pPr>
            <a:r>
              <a:t>• This encoding is applied to </a:t>
            </a:r>
            <a:r>
              <a:rPr b="1"/>
              <a:t>Hour</a:t>
            </a:r>
            <a:r>
              <a:t> (24-hour cycle), </a:t>
            </a:r>
            <a:r>
              <a:rPr b="1"/>
              <a:t>DayOfWeek</a:t>
            </a:r>
            <a:r>
              <a:t> (7-day cycle), and </a:t>
            </a:r>
            <a:r>
              <a:rPr b="1"/>
              <a:t>Month</a:t>
            </a:r>
            <a:r>
              <a:t> (12-month cycle).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HOW CYCLICAL TIME TRANSFORMS</a:t>
            </a:r>
          </a:p>
          <a:p>
            <a:br/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     Hour 23 (11 PM)   -&gt;  (sin = -0.26, cos = 0.97)</a:t>
            </a:r>
            <a:br/>
            <a:r>
              <a:t>     Hour 00 (Midnight) -&gt;  (sin = 0.00, cos = 1.00)</a:t>
            </a:r>
            <a:br/>
            <a:r>
              <a:t>     Hour 01 (1 AM)     -&gt;  (sin = 0.26, cos = 0.97)</a:t>
            </a:r>
            <a:br/>
            <a:br/>
            <a:r>
              <a:t>• **Mathematical Distance**: Euclidean distance between Hour 23 and Hour 00 is exactly identical to the distance between Hour 00 and Hour 01.</a:t>
            </a:r>
            <a:br/>
            <a:br/>
            <a:r>
              <a:t>• **Model Benefit**: Allows linear models to naturally draw smooth sine-wave-like daily consumption profiles (low demand at night, climbing through day) without requiring complex polynomial trees.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Feature Engineering - Lags &amp; Rolling Statistics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Auto-Regressive Lags (Autocorrelation)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Electricity load is heavily dependent on immediate past activities (temporal momentum).</a:t>
            </a:r>
            <a:br/>
            <a:br/>
            <a:r>
              <a:t>• Engineered Lag Features:</a:t>
            </a:r>
            <a:br/>
            <a:r>
              <a:t>  - **Lag 1 (t-1)**: Load in the immediate previous hour. Most powerful predictor of short-term momentum.</a:t>
            </a:r>
            <a:br/>
            <a:r>
              <a:t>  - **Lag 2 (t-2)**: Load 2 hours ago.</a:t>
            </a:r>
            <a:br/>
            <a:r>
              <a:t>  - **Lag 24 (t-24)**: Load at the exact same hour yesterday. Captures daily repeating cycle.</a:t>
            </a:r>
            <a:br/>
            <a:r>
              <a:t>  - **Lag 168 (t-168)**: Load at the exact same hour last week. Captures weekly repeating calendar 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Moving Window (Rolling) Statistics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Rolling stats summarize local historical trends, smoothing out hourly noise.</a:t>
            </a:r>
            <a:br/>
            <a:br/>
            <a:r>
              <a:t>• Engineered Moving Features:</a:t>
            </a:r>
            <a:br/>
            <a:r>
              <a:t>  - **Rolling Mean 6**: Simple moving average of the last 6 hours (captures intraday trend).</a:t>
            </a:r>
            <a:br/>
            <a:r>
              <a:t>  - **Rolling Mean 24**: Moving average of the last 24 hours (captures daily average shift).</a:t>
            </a:r>
            <a:br/>
            <a:r>
              <a:t>  - **Rolling Std 24**: Moving standard deviation of the last 24 hours (captures grid volatility/load dispersion).</a:t>
            </a:r>
            <a:br/>
            <a:br/>
            <a:r>
              <a:t>• *Note: To prevent future look-ahead leakage, all rolling metrics are computed strictly using historical shifts (excluding time 't').*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Evaluation &amp; Validation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Chronological Split vs. Random Split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**The Risk**: In sequential data, random splitting causes look-ahead data leakage (e.g. predicting yesterday's load using today's data in training).</a:t>
            </a:r>
            <a:br/>
            <a:r>
              <a:t>• **Our Strategy**: Chronological Train/Test Split (80% / 20%).</a:t>
            </a:r>
            <a:br/>
            <a:r>
              <a:t>• **Eğitim Kümesi (Train)**: March 8, 2025 to May 15, 2025 (1,651 hours).</a:t>
            </a:r>
            <a:br/>
            <a:r>
              <a:t>• **Test Kümesi (Test)**: May 15, 2025 to June 1, 2025 (413 hours).</a:t>
            </a:r>
          </a:p>
          <a:p>
            <a:pPr>
              <a:spcBef>
                <a:spcPts val="1600"/>
              </a:spcBef>
              <a:defRPr sz="1800" b="1">
                <a:solidFill>
                  <a:srgbClr val="0F172A"/>
                </a:solidFill>
                <a:latin typeface="Arial"/>
              </a:defRPr>
            </a:pPr>
            <a:r>
              <a:t>TimeSeriesSplit Cross-Validation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We use `TimeSeriesSplit` (n_splits=5) inside training to tune hyperparameters.</a:t>
            </a:r>
            <a:br/>
            <a:r>
              <a:t>• The validation window expands chronologically like a rolling horizon, ensuring model validation is always performed on unseen FUTURE sequences.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CHRONOLOGICAL ROLLING HORIZON</a:t>
            </a:r>
          </a:p>
          <a:p>
            <a:br/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     Fold 1:  [ Train: 1/6 ] -&gt; [ Val: 2/6 ]</a:t>
            </a:r>
            <a:br/>
            <a:r>
              <a:t>     Fold 2:  [ Train: 1/6 + 2/6 ] -&gt; [ Val: 3/6 ]</a:t>
            </a:r>
            <a:br/>
            <a:r>
              <a:t>     Fold 3:  [ Train: 1/6 + 2/6 + 3/6 ] -&gt; [ Val: 4/6 ]</a:t>
            </a:r>
            <a:br/>
            <a:r>
              <a:t>     Fold 4:  [ Train: 1/6 ... + 4/6 ] -&gt; [ Val: 5/6 ]</a:t>
            </a:r>
            <a:br/>
            <a:r>
              <a:t>     Fold 5:  [ Train: 1/6 ... + 5/6 ] -&gt; [ Val: 6/6 ]</a:t>
            </a:r>
            <a:br/>
            <a:br/>
            <a:r>
              <a:t>• **Jury Highlights**: Standard K-Fold is statistically invalid for time-series forecasting. Our TimeSeriesSplit ensures high structural integrity and provides authentic, leak-proof cross-validation scores.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Applied Model Architectures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 b="1">
                <a:solidFill>
                  <a:srgbClr val="0D9488"/>
                </a:solidFill>
                <a:latin typeface="Arial"/>
              </a:defRPr>
            </a:pPr>
            <a:r>
              <a:t>Baseline: Linear Regression</a:t>
            </a:r>
          </a:p>
          <a:p>
            <a:pPr>
              <a:spcBef>
                <a:spcPts val="800"/>
              </a:spcBef>
              <a:defRPr sz="1350">
                <a:solidFill>
                  <a:srgbClr val="0F172A"/>
                </a:solidFill>
                <a:latin typeface="Calibri"/>
              </a:defRPr>
            </a:pPr>
            <a:r>
              <a:t>• **Fittings**: Finds the optimal hyper-plane by minimizing Ordinary Least Squares (OLS) residual sums.</a:t>
            </a:r>
            <a:br/>
            <a:br/>
            <a:r>
              <a:t>• **Interpretability**: Represents a fully transparent 'glass-box' model where the coefficient magnitude represents direct feature weights.</a:t>
            </a:r>
            <a:br/>
            <a:br/>
            <a:r>
              <a:t>• **Prerequisite Scaling**: Features are standard-scaled so that large-scale variables (e.g. Lags in MWh) do not dominate smaller scale metrics (e.g. cyclical sin/cos).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 b="1">
                <a:solidFill>
                  <a:srgbClr val="0D9488"/>
                </a:solidFill>
                <a:latin typeface="Arial"/>
              </a:defRPr>
            </a:pPr>
            <a:r>
              <a:t>Advanced: XGBoost Regressor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**Mechanism**: Gradient Boosting Machine utilizing tree ensembles. Sequentially corrects residual errors of previous base trees.</a:t>
            </a:r>
            <a:br/>
            <a:br/>
            <a:r>
              <a:t>• **GridSearchCV Tuning**: Executed parallel GridSearchCV over 24 hyperparameter candidates.</a:t>
            </a:r>
            <a:br/>
            <a:br/>
            <a:r>
              <a:t>• **Optimal Parameters Found**:</a:t>
            </a:r>
            <a:br/>
            <a:r>
              <a:t>  - `learning_rate` = 0.1</a:t>
            </a:r>
            <a:br/>
            <a:r>
              <a:t>  - `max_depth` = 3 (sough depth prevents overfitting)</a:t>
            </a:r>
            <a:br/>
            <a:r>
              <a:t>  - `n_estimators` = 200 trees</a:t>
            </a:r>
            <a:br/>
            <a:r>
              <a:t>  - `subsample` = 1.0 (full sample training)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Experimental Performance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Dataset Split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R² (Variance Explained)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RMSE (MWh)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50">
                          <a:solidFill>
                            <a:srgbClr val="FFFFFF"/>
                          </a:solidFill>
                        </a:defRPr>
                      </a:pPr>
                      <a:r>
                        <a:t>MAE (MWh)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Linear Regression (Baseline)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Training Set (80%)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96.78%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1,017.76 MWh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774.83 MWh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Linear Regression (Baseline)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Test Set (20%)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97.13%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925.07 MWh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711.24 MWh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XGBoost Regressor (Optimized)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Training Set (80%)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99.26%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488.68 MWh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372.44 MWh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XGBoost Regressor (Optimized)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Test Set (20%)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98.66%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631.43 MWh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474.74 MWh</a:t>
                      </a:r>
                    </a:p>
                  </a:txBody>
                  <a:tcPr>
                    <a:solidFill>
                      <a:srgbClr val="E6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749039"/>
            <a:ext cx="11094415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Arial"/>
              </a:defRPr>
            </a:pPr>
            <a:r>
              <a:t>Key Analytical Interpretations: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**Outstanding Forecast Accuracy**: XGBoost explains **98.66% of unseen test variance** with an average error of only **474.74 MWh** (~1.4% of total demand). This level of accuracy is highly commercial-grade.</a:t>
            </a:r>
            <a:br/>
            <a:br/>
            <a:r>
              <a:t>• **Highly Strong Baseline**: Linear Regression achieves an amazing **97.13% R²** on the test set. This represents the high value of our engineered lags and trigonometric sin/cos time encoding, proving that linear models can achieve tree-equivalent accuracy when fed high-quality features.</a:t>
            </a:r>
            <a:br/>
            <a:br/>
            <a:r>
              <a:t>• **Zero Overfitting Signs**: The gap between XGBoost Training R² (99.26%) and Test R² (98.66%) is extremely small, proving that TimeSeriesSplit CV did an excellent job at preventing overfitting.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Prediction Quality &amp; Feature Importance</a:t>
            </a:r>
          </a:p>
        </p:txBody>
      </p:sp>
      <p:pic>
        <p:nvPicPr>
          <p:cNvPr id="5" name="Picture 4" descr="06_predictions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6217920" cy="2926080"/>
          </a:xfrm>
          <a:prstGeom prst="rect">
            <a:avLst/>
          </a:prstGeom>
        </p:spPr>
      </p:pic>
      <p:pic>
        <p:nvPicPr>
          <p:cNvPr id="6" name="Picture 5" descr="05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80560"/>
            <a:ext cx="4572000" cy="2011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49440" y="1463040"/>
            <a:ext cx="4663440" cy="5029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Arial"/>
              </a:defRPr>
            </a:pPr>
            <a:r>
              <a:t>Feature Decision Breakdown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**Dominance of Autoregressive Lags**:</a:t>
            </a:r>
            <a:br/>
            <a:r>
              <a:t>  - In both Linear Regression and XGBoost, Toplam_lag_1 (t-1 hour demand) and Toplam_lag_24 (t-24 hour demand) are the top two features.</a:t>
            </a:r>
            <a:br/>
            <a:r>
              <a:t>  - This confirms the high autocorrelation of grid loads, indicating today's demand at 3 PM is best forecasted by 2 PM's load and yesterday's 3 PM load.</a:t>
            </a:r>
            <a:br/>
            <a:br/>
            <a:r>
              <a:t>• **Trigonometric Cyclical Time Contribution**:</a:t>
            </a:r>
            <a:br/>
            <a:r>
              <a:t>  - Cyclical hour coordinates (Hour_sin, Hour_cos) act as powerful predictors, letting models identify smooth peak/valley transitions without creating ordinal bias.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MEE344 MACHINE LEARNING GROUP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Sectoral Impact, Limitations &amp; Future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Real-World Sectoral Impact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**Grid Dispatching Optimization**: Allows transmission system operators (TSOs) or utility companies to efficiently schedule baseload thermal generators, preventing costly hot start-ups.</a:t>
            </a:r>
            <a:br/>
            <a:br/>
            <a:r>
              <a:t>• **Energy Trading Integration**: Active market bidding relies on low-MAE load curves. Suppressing errors down to 1.4% allows traders to optimize bids, boosting profit margins.</a:t>
            </a:r>
            <a:br/>
            <a:br/>
            <a:r>
              <a:t>• **Outage Management**: Enables planning scheduled maintenance during demand valleys rather than peak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303520" cy="4389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93776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Arial"/>
              </a:defRPr>
            </a:pPr>
            <a:r>
              <a:t>Limitations &amp; Future Scope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  <a:latin typeface="Calibri"/>
              </a:defRPr>
            </a:pPr>
            <a:r>
              <a:t>• **Meteorological Dependency**: Temperature directly drives heating/AC usage. Our dataset lacked weather features (ambient temperature, humidity, cloud index), which is a key limitation.</a:t>
            </a:r>
            <a:br/>
            <a:br/>
            <a:r>
              <a:t>• **Calendar Anomalies**: Public holidays or religious festivals behave differently than standard Sundays. These exceptions were not explicitly coded.</a:t>
            </a:r>
            <a:br/>
            <a:br/>
            <a:r>
              <a:t>• **Future LSTM/Deep Learning**: We plan to implement deep learning recurrent neural networks (LSTM, GRU) to evaluate performance changes.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0" y="0"/>
            <a:ext cx="4572000" cy="6858000"/>
          </a:xfrm>
          <a:prstGeom prst="rtTriangle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34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spcBef>
                <a:spcPts val="1200"/>
              </a:spcBef>
              <a:defRPr sz="2000">
                <a:solidFill>
                  <a:srgbClr val="0D9488"/>
                </a:solidFill>
                <a:latin typeface="Arial"/>
              </a:defRPr>
            </a:pPr>
            <a:r>
              <a:t>Hourly Grid Load Forecasting Project Completed</a:t>
            </a:r>
          </a:p>
          <a:p>
            <a:pPr algn="ctr">
              <a:spcBef>
                <a:spcPts val="2400"/>
              </a:spcBef>
              <a:defRPr sz="1600">
                <a:solidFill>
                  <a:srgbClr val="64748B"/>
                </a:solidFill>
                <a:latin typeface="Arial"/>
              </a:defRPr>
            </a:pPr>
            <a:r>
              <a:t>Questions &amp; Answers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